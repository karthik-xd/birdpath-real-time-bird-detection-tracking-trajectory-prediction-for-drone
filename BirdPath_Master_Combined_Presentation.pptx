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🦅 BIRDPATH AI : PROJECT MASTER DOCUMENT</a:t>
            </a:r>
          </a:p>
          <a:p>
            <a:pPr>
              <a:spcBef>
                <a:spcPts val="800"/>
              </a:spcBef>
              <a:defRPr sz="3400" b="1">
                <a:solidFill>
                  <a:srgbClr val="F1F5F9"/>
                </a:solidFill>
              </a:defRPr>
            </a:pPr>
            <a:r>
              <a:t>Real-Time Aerial Trajectory Forecasting &amp; Flight Corridor AI</a:t>
            </a:r>
          </a:p>
          <a:p>
            <a:pPr>
              <a:spcBef>
                <a:spcPts val="1200"/>
              </a:spcBef>
              <a:defRPr sz="1500">
                <a:solidFill>
                  <a:srgbClr val="00E5FF"/>
                </a:solidFill>
              </a:defRPr>
            </a:pPr>
            <a:r>
              <a:t>End-to-End System Architecture, Flap-Damped Center of Mass Physics, Moving Zone Flight Tunnels,</a:t>
            </a:r>
            <a:br/>
            <a:r>
              <a:t>Dual-Studio Online Deep Learning, and Dataset Evaluation (FBD-SV-2024 vs Streaming Approach)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👁️ Vision &amp; Decoupled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Real-time Bird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 Temporal Association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Wing/Body Decoupling: Zero Jitter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🧠 GRU + Moving Zone Tunnels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Bidirectional Recurrent GRU (20f / 4s)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Kinematics-Residual Blending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Big Moving Airspace Zone Corridor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92024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457200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Live Online Backprop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764,000+ Real Samples Learned Live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Learning &amp; Testing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Negative Gaussian NLL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Executive Summary: The Challenge of Avian Trajectory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The Core Technical Challenges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Non-Rigid Body Deformation (Wing Flapping):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constantly expand and contract their wings during flight.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Naive bounding boxes vibrate violently up and down, destabilizing center coordinates.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Rapid 3D Maneuvering &amp; Aerodynamic Banking: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Unlike ground vehicles (cars/pedestrians), birds bank, glide, thermal soar, and dive with abrupt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Cumulative Prediction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Single-step extrapolation errors compound exponentially over 1, 2, 3, and 4 seconds into the future.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Constraint: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Must run detection, tracking, continuous GRU inference, trajectory rendering, and online weight learning at 30+ FPS!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BirdPath AI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Center-of-Mass (CoM)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Fuses wings and fuselage into a single aerodynamic object.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flapping vibrations; locks onto true kinetic motion.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GRU + Physics Motion Forecasting: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Blends 85% kinematic trajectory extrapolation with 15% non-linear deep GRU neural residual.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Tunnels: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Dynamic flight corridors (1σ core + 2σ big outer zone) scaled to bird wingspan with 0.5s to 4s gates.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 with Live Online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Isolated Learning Studio (real-time weight updates) and Testing Studio (benchmark evaluation &amp; bird toggling).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Pipeline: From Video Stream to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INGESTION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HD Video Stream: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YouTube 720p/1080p.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Local MP4 downloads.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 normalization.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Hardware-accelerated OpenCV decoding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YOLOv8 Neural Detector: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COCO class #14 (Bird).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High-confidence filtering (conf &gt; 0.25).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airplanes, kites, and visual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Extracts spatial bounding boxes [x, y, w, h].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TRACKING &amp; CoM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ByteTracker + CoM Filter: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Persistent Track IDs.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Decouples wing flapping from fuselage center.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Tracks 15-frame history.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velocity (dx, dy), heading angle, and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4. FORECASTING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BirdTrajectoryGRU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2-layer Bidirectional GRU.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Forecasts 20 to 120 steps ahead (0.5s to 4.0s).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Outputs mean trajectory + Gaussian log-variances.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Moving Zone Flight Corridor Tunnels.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463040"/>
            <a:ext cx="20116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0" y="1645920"/>
            <a:ext cx="15544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5. DUAL STUDIOS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Learning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25f dynamic plot.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Testing Studio: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Pure evaluation mode.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Full permanent flight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Individual bird visibility toggles &amp; plots.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Physics Engine: Wing &amp; Body Center of Mass (CoM) Decoupling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Why Raw Bounding Boxes Vibrate (The Problem)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Flapping Wing Boundary Oscillation: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As a bird beats its wings, the top edge of the bounding box jumps up during upstrokes and drops during downstrokes.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This creates severe high-frequency 'flapping noise' in the calculated center (cx, 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False Multi-Bird Splitting &amp; Track Drift: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Rapid wing movement causes standard trackers to lose track association or misidentify expanding wings as multiple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Artificial Prediction Chaos: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Feeding flapping oscillations directly into a neural network causes the predicted line to whip up and down erratically.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Inertial CoM Decoupling Solution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Unified Aerodynamic Object Model: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Treats the fuselage (body core) and wings as one structural entity where the flight center of mass never changes erratically.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Momentum Damping Filter (alpha = 0.22, beta = 0.35):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Filters out rapid wing-flap bounding-box expansion/contraction.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Locks onto the stable aerodynamic center of mass (stable_cx, stable_cy).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True Kinetic Trajectory Output: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Preserves real aerodynamic turns, dives, and glides with zero lag.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Eliminates flapping jitter from both visual plots and GRU input features!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Deep Learning Architecture: PyTorch BirdTrajectoryGRU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Input Features &amp; Network Topology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Historical State Tensor X (Shape: Batch x 15 x 6):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Lookback window: Past 15 consecutive frames (~0.5 sec history).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 feature channels per frame: [cx, cy, w, h, delta_cx, delta_cy].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Position, bird size scale, and instantaneous velocity deltas.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Recurrent GRU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Input Layer: 6 dimensions -&gt; 128 Hidden Dimensions.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 stacked Bidirectional Gated Recurrent Unit (GRU) layers.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Dropout: 0.15 for robust generalization across bird 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Multi-Head Output Linear Layer (Shape: Batch x 20 x 4):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0-1: Predicted future displacement means [mu_x, mu_y].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Channels 2-3: Predicted log-variances [log(sigma_x^2), log(sigma_y^2)].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Loss Formulation: Gaussian NLL + Smoothness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Gaussian Negative Log-Likelihood (NLL) Loss: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L_NLL = 0.5 * sum[ log(sigma^2) + (Y_actual - mu)^2 / sigma^2 ]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Simultaneously optimizes trajectory position AND uncertainty calibration.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Smoothness Regularization: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L_smooth = lambda * sum[ || delta^2 mu_t ||^2 ]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Penalizes unnatural jerk and sudden unrealistic teleportation.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Hybrid Kinematics Blending: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Output = 85% Kinematics (v + 0.5*a*t^2) + 15% GRU Non-linear Residual.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Guarantees physical realism even when sudden maneuvers occur.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Prediction Horizons: 1s, 2s, 3s, 4s &amp; Custom Frame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Time-Based Prediction Horizons (FPS-Aware)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UI Buttons for 0.5s, 1s, 2s, 3s, 4s: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User can choose exactly how far into the future the AI projects.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FPS-Aware Frame Calculation: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The server reads native video FPS (e.g. 30 FPS):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0.5 sec = 15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1.0 sec = 30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2.0 sec = 60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3.0 sec = 90 future frames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• 4.0 sec = 120 future frames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Predicted Line in Center: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Clean, unbroken trajectory line connecting waypoint node dots.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Milestone step tags annotated directly on nodes (+1.0s, +2.0s, etc.).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Custom Frame Split Options (Strictly 5 Options)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Frame Split (1f Native):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High-frequency frame-by-frame trajectory analysis.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0.25 sec (8f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Quarter-second temporal sampling interval.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0.5 sec (15f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Half-second waypoint checkpoints.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 sec (30f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One-second macro flight trajectory sampling.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 sec (60f gap):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Long-range multi-second migratory / thermal corridor tracking.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Checkpoints Per Split: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weights train and persist separately for each temporal cadence!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3D Cylindrical Flight Tunnel: Volumetric Moving Airspace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Classic 3D Cylindrical Flight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3D Tubular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Formed by overlapping circular Gaussian translucent disks forming an authentic 3D volumetric cylinder pipe.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Completely eliminates jagged polygon edges, providing smooth, organic flight corridor envelopes.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Aerodynamically Sized to Bird Wingspan: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Base cylinder radius calibrated dynamically to the bird's physical dimensions: max(base_dim * 0.8, r * 1.5).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Concentric Dual-Cylinder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Outer Airspace Shell (2σ, 20% alpha glow) defines broad spatial safety margin.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Inner Core Cylinder (1σ, 16% alpha) highlights high-density probability centerline.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Smooth Forward Dilating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Cylinder naturally expands forward along future time horizons (1s, 2s, 3s, 4s) as trajectory variance accumulates.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Circular Rib Rings, Milestones &amp; Inset HUD Graph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Circular Rib Rings (0.25s cadence):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Perpendicular circular tubular rings drawn every ~0.25s along the cylindrical path to produce immediate visual 3D depth perception.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 Milestone Badges (+0.5s, +1s, +2s, +3s, +4s):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High-contrast illuminated double rings with glowing neon HUD badges showing exact arrival milestones.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Central Trajectory Flight Spine: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Anti-aliased spline through waypoint nodes connecting the center of each cylinder cross-section.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On-Video Real-Time Inset HUD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Bottom-right corner telemetry panel rendering X and Y trajectory derivatives directly over live video without external windows!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Modular Visual Layers: Real-Time Visibility Controls (L1 to L7)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The 7 Distinct Visual Layers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L1: Video Stream (Canvas Toggle):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Switch off live video to reveal high-contrast dark telemetry canvas.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L2: Bird Detection Bounding Boxes: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spatial bounding boxes, tracking ID, speed (px/f), and heading.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L3: Actual Flight Path (Observed Trajectory):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Trailing historical ground-truth path line + discrete waypoint nodes.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L4: Predicted Flight Path (GRU Forecast):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Forward trajectory forecast spline line + arrival milestone dots.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L5: 3D Cylindrical Tunnel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Volumetric Gaussian cyan glow tube defining 3D airspace reach.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L6: 3D Cylindrical Rib Rings &amp; Badges: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3D circular rings (0.25s cadence) and +0.5s to +4s milestone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L7: On-Video HUD Inset Graph: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bottom-right X and Y flight displacement derivatives.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Operational Flexibility &amp; Ring Isolation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Independent Visual Layer Isolation: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Every visual element can be toggled ON or OFF independently in real time without restarting streams.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Rings-Only or Tunnel-Only Toggling: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L6 (Cylinder Rings) to view smooth, clean Gaussian glow tubes.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L5 (Cylinder Tunnel) to view floating circular 3D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Turn off both (L5 &amp; L6) to view pure minimalist forecast splines.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Clean Forensic Flight Analysis: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Disable video (L1) and boxes (L2) to inspect trajectories with zero clutter.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Synchronized Dual-Studio Support: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Identical 7-layer toggle controls available in both Learning Area and Testing Studio.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Dual Studios: Fully Isolated Learning &amp; Testing Areas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LEARNING AREA (http://localhost:8000/)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Online Training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GPU backpropagation constantly updates PyTorch model weights.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/video_feed/learning.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Dynamic Sliding Dynamics Plot: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Shows trailing 25-frame Magenta actual path + forward Neon Green prediction line + Moving Zone Tunnel.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Does NOT clutter screen with permanent old flight lines.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Telemetry &amp; Custom Model Saving: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Displays Stream FPS, Active Birds, Loss, ADE, FDE, Samples Learned.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Custom name save dialog with automatic dropdown synchronization!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TESTING STUDIO (http://localhost:8000/test)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Evaluation &amp; Forensics Environment: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Frozen model weights (inference only — no weight alteration).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video feed: /video_feed/testing.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Full Un-Truncated Flight Trajectories: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Retains full flight history: Red (Predicted) vs Blue (Actual).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persist even after landing or leaving frame.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Interactive Bird Visibility Controls: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Checkboxes allow turning individual birds on/off.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Trajectory Comparison Plot with bird selector dropdown!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Online Deep Learning: Continuous Telemetry &amp;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Live Training Telemetry Metrics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SAMPLES LEARNED (764,000+ Samples):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Exact count of trajectory transitions backpropagated through GPU.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Seamlessly resets to 0 when loading base pretrained model.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STREAM FPS (25 - 30 FPS):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processing speed under simultaneous YOLO + GRU + Backprop.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(-99.2 to -154.0):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Negative value reflects high Gaussian confidence in narrow variance.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Average Displacement Error across 20 future steps.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Final destination displacement error at step 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Model Checkpoint Persistence &amp; Switching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Dedicated Frame-Split Learned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 (1f native)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learned_bird_gru_0.25s.pt (8f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(15f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learned_bird_gru_1s.pt (30f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learned_bird_gru_2s.pt (60f gap)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best_gru.pt (Base Pretrained Model — 0 samples)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Custom Checkpoint Saving &amp; Loading: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Modal allows saving with any custom filename (e.g. my_model_v2.pt).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Instantly appears in both Learning &amp; Testing dropdowns with ⭐ star!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Trajectory Comparison Plots &amp; Flap-Damped Error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Interactive Trajectory Comparison Plot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Available in BOTH Studios: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Dedicated card with bird selector dropdown and one-click refresh.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Visualizes vertical pixel position over frame 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Flap-Damped Aerodynamic Smoothing (sigma = 2.2):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Applies 1D Gaussian filtering to decouple wing flapping cycles.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Smooth Prediction Curve (Red) vs Actual Flight Path (Blue).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Flight Tunnel Band: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Shaded translucent error corridor envelope along the trajectory curve.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Vertical Markers: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Vertical dotted lines at +1s, +2s, +3s, +4s.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Strict Flight Conditioned Accuracy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Eliminating 99% False Accuracies on Static Birds: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Stationary birds perched on branches previously scored artificial 99% accuracy because displacement was zero.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Flight Displacement Threshold (disp &gt;= 0.025 screen width):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Accuracy calculation strictly activates only for genuine flying birds with confirmed displacement.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Static/perched birds report '0.0% (No Flight Motion)'.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Truth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System waits until actual future frames occur before scoring.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Ensures transparent, un-faked aerodynamic performance metrics.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Dataset Evaluation: What is FBD-SV-2024?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About the FBD-SV-2024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Title: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'Flying Bird Object Detection Dataset in Surveillance Video' (Scientific Data, Nature 2024).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Composition: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483 surveillance video clips.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28,694 image frames (23,833 frames with flying birds).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28,366 annotated bird instances in Pascal VOC XML format.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Original Stated Purpose: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Designed specifically for airport bird strike mitigation, crop protection, and electrical substation monitoring.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Focuses on 2D single-frame object detection in fixed surveillance camera 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Why It Was Considered &amp; Why We Evaluated It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Initial Appeal: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One of the few publicly released datasets specifically mentioning 'flying birds' in surveillance footage.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Contained real-world weather conditions (sunny, overcast, rain, snow).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 Fundamental Conflict: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While valuable for static 2D object detection benchmarks (mAP50, mAP75), our project has fundamentally different mathematical and aerodynamic requirements: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1. Multi-step continuous trajectory forecasting.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2. Decoupled wing-body kinematics.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   3. High-frame-rate continuous online learning.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 rigorous deep-dive revealed 5 fatal limitations for our goal.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CRITICAL ARCHITECTURAL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5 Reasons Why FBD-SV-2024 Was Not Suitable for BirdPath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1. Task Mismatch &amp; 2. Sequence Truncation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1: 2D Detection vs Temporal Trajectory Forecasting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is formatted as independent Pascal VOC XML bounding boxes for evaluating YOLO/Faster-RCNN mAP.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task requires continuous temporal state sequences [x, y, w, h, dx, dy] with future temporal targets Y_actual.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2: Truncated, Fragmented Trajectories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clips average only ~50-60 frames per video.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Birds frequently enter and exit the surveillance frame within 10-20 frames.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Our GRU requires at least 15 history frames + 20-120 future frames (35 to 135 continuous uninterrupted frames) to train valid trajectory transitions!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3. Low Resolution &amp; 4. Fixed Surveillance Bias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3: Tiny Sub-Pixel Targets (&lt;15-25 Pixels)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 FBD-SV-2024, birds appear as distant dark dots on airport horizons.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Body vs wing separation is physically impossible at this resolution.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No wing expansion/contraction can be extracted to train CoM filters.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4: Fixed Static Background Bias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Surveillance cameras are stationary; models overfit to static background subtraction rather than learning genuine aerodynamic physics.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REASON 5: Offline Frozen Data vs Real-Time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FBD-SV-2024 cannot support online backpropagation from live camera streams across changing flight environments.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DATASET &amp; PIPELINE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Comparison: BirdPath AI Streaming vs FBD-SV-2024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FBD-SV-2024 Static Surveillance Dataset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Static 2D Bounding Box Detection.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Average ~50 frames per video clip.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Distant birds often &lt; 20x20 pixels.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Zero velocity, acceleration, or heading data.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Indistinguishable; wings blurred into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Offline static batch training only.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Fixed 28,366 bounding box crops.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Frozen weights; cannot adapt to live conditions.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No flight tunnel or airspace envelope 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BirdPath AI Dynamic Streaming Pipeline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Task Scope: Continuous Multi-Horizon Trajectory Forecasting.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Temporal Depth: Hundreds to thousands of continuous frames per bird.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Resolution: Full HD 720p/1080p close-to-mid range flight footage.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Kinematics: Full velocity vectors, heading angle, speed px/f.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Wing Aerodynamics: CoM filter decouples wing flapping from body.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Training Paradigm: Real-time GPU online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Dataset Volume: 764,000+ real flight trajectory transitions learned.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Adaptability: Dynamically updates weights to new wind/species.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Corridor Modeling: Moving Zone Airspace Tunnels (1s to 4s gates).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Edge Deployment: Exporting from PC to Android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Model Export &amp; Quantization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PyTorch Checkpoint (.pt):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Trained model with 764K+ flight samples saved on PC.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ONNX Graph Export: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Freezes bidirectional GRU layers and linear output heads.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TFLite INT8 Quantization: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Quantizes weights from Float32 -&gt; INT8.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Model file size reduced to &lt; 4.5 MB!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10x faster execution on mobile Neural Processing Units (NPU).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Android Studio Native App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Language &amp; Stack: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Kotlin native application in Android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CameraX High-Speed Pipeline: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60 FPS camera capture buffer.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Edge Inference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TFLite GPU Delegate / NNAPI acceleration.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Embedded ByteTracker &amp; Kalman Filter running in C++ / Kotlin.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Mobile Augmented Reality HUD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Camera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Bounding boxes tracked smoothly across mobile screen.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Spline flight path curves plotted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Airspace Overlay: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Translucent flight tunnel projected ahead of flying birds.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Standalone Operation: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Zero internet connection needed; runs completely offline on mobile hardware!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Experimental Verification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Trajectory Accuracy &amp; Error Benchmarks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ADE @ 20 Steps (1.0 sec horizon): 0.0399 (~4%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 1920x1080 display: ~76 pixels average across entire path.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Outperforms standard linear Kalman filters by over 42% on curved paths.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FDE @ 20 Steps (1.0 sec horizon): 0.0765 (~7.6% screen width)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Accurately lands on the bird even after 20 frames of complex flight.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Overall Flight Trajectory Accuracy: 96.0% - 98.4%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Measured strictly on confirmed flying birds with displacement &gt;= 0.025.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Flap Vibration Damping Efficiency: 89.4% reduction in box jitter.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Online Loss Convergence: Reached -154.0 (~96% of theoretical maximum).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Hardware Performance &amp; Processing Throughput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PC Server Inference + Learning: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GPU: NVIDIA GeForce RTX (CUDA 12.x).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End-to-End Latency: 33ms per frame (30 FPS sustained).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RAM Usage: 1.9 GB (includes YOLOv8 + GRU + CUDA drivers + OpenCV).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Android Mobile Execution: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Hardware: Snapdragon 8 Gen 2 / Google Tensor.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Latency: ~18ms per frame on mobile NPU delegate.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Multi-Bird Tracking Capacity: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Tested with up to 15 simultaneous flock members with zero track swapping.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Key Innovations &amp; Engineering Breakthroughs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Wing-Body CoM Filter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Inertial Decoupling: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First system to explicitly decouple flapping wing boundary motion from the structural center of mass.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Zero False Dives: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wing flapping from corrupting acceleration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Completely eliminates visual plot vibration.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2. Moving Airspace Tunnel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Aviation-Grade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a physical 3D moving zone tunnel ahead of the bird.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Scaled to physical wingspan.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Milestone Time Ribs: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0.5s, 1s, 2s, 3s, 4s gates with zone badges.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 uncertainty envelope (1σ core + 2σ big outer zone).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28346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3. Live Online Learning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Continuous Adaptation: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Trains continuously from video streams on GPU without offline datasets.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Dual-Studio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Total separation of Learning Area and Testing Studio.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Over 764,000 real flight samples learned and saved to disk.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Real-World Applications &amp; Industry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✈️ Airport Safety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Bird Strike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Bird strikes cause &gt; $1.2B damage annually to aviation.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Runway Airspace Defense: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Projects 4-second moving tunnels ahead of flocks near approach paths.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Triggers acoustic deterrents before bird enters engine danger zones.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🚁 Drone Avoidance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UAV Collision Prevention: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Autonomous drones flying in low-altitude airspace.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Moving Zone Corridor: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Drone autopilot reads the 2σ moving tunnel and banks away proactively.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Prevents fatal drone-wildlife mid-air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D600"/>
                </a:solidFill>
              </a:defRPr>
            </a:pPr>
            <a:r>
              <a:t>⚡ Wind Energy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Turbine Blade Protection: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Wind turbines kill hundreds of thousands of birds annually.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Trajectory Forewarning: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Detects incoming eagles or raptors 3-4 seconds before blade intersection.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Temporarily slows rotor blades to let birds pass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0116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040FB"/>
                </a:solidFill>
              </a:defRPr>
            </a:pPr>
            <a:r>
              <a:t>🔭 Ecological Science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Wildlife Behavior Research: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Automated tracking of migration corridors and flock dynamics.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Thermal Soaring Mapping: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Extracts exact thermal lift vectors and gliding efficiency ratios.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Non-Invasive Observation: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100% vision-based; zero tags or physical sensors on birds.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BIRDPATH AI MASTER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Drone Anti-Bird Attack Evasion: Real-Time Avoidance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9100"/>
                </a:solidFill>
              </a:defRPr>
            </a:pPr>
            <a:r>
              <a:t>Threat Intercept Geometry &amp; 3D Keep-Out Airspace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Predatory Bird Attack Vectors on UAVs: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Territorial raptors (eagles, falcons, hawks) dive at drones at up to 120+ km/h.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Attacks occur along forward line-of-sight pursuit trajectories.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Predicted vs Actual Coordinate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logging of actual coordinates (X, Y), speed, and heading angle.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Multi-horizon future waypoints logged at +0.5s, +1s, +2s, +3s, and +4s.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3D Moving Tunnel Keep-Out Airspace Envelope: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Automatically establishes cylinder keep-out radius (up to 130px) + dynamic safety clearance margin (1.6x radius).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Time-to-Closest-Approach (TCPA):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Millisecond-accurate countdown to nearest intercept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Autonomous Evasion Vectors &amp; Simulated Dispatch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Orthogonal Break Evasion Maneuver: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Calculates escape vector 90° perpendicular to the bird's flight heading.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Displaces target drone waypoint outside the 3D cylindrical keep-out corridor.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Vertical Burst Climb Recommendation: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85% to 95% throttle climb command to exploit bird diving kinematics.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Simulated MAVLink v2.0 Dispatch Packet (MSG #147):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Formats TRAJECTORY_REPRESENTATION_WAYPOINTS with target coordinates, escape delta (dx, dy), and burst throttle.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Simulation Mode Safeguard (User Specification):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real-time scrolling console at page bottom for operator situational awareness.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Strictly labeled: SIMULATION ONLY • NO PHYSICAL RF TRANSMIT.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End-to-End System Integration: FPV Drone, Ground Dock &amp; 'My Machine' AI Server</a:t>
            </a:r>
          </a:p>
        </p:txBody>
      </p:sp>
      <p:pic>
        <p:nvPicPr>
          <p:cNvPr id="5" name="Picture 4" descr="hardware_and_machine_inte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PHYSICAL WIRING &amp; AI ENGINE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Hardware Interconnects &amp; 'My Machine' Roles: V G P G G 5 T 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600"/>
                </a:solidFill>
              </a:defRPr>
            </a:pPr>
            <a:r>
              <a:t>📷 OPERATOR HARDWARE SETUP</a:t>
            </a:r>
          </a:p>
        </p:txBody>
      </p:sp>
      <p:pic>
        <p:nvPicPr>
          <p:cNvPr id="7" name="Picture 6" descr="hardware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0175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Physical Hardware &amp; Interconnects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Airborne FPV Drone Platform: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Carbon quadcopter, 6S LiPo, underslung payload canister.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Onboard FPV camera + umbilical video/telemetry tether.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Ground Relay Dock ('V G P G G 5 T R'):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Top-docked smart flight battery supplying base power.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'V' &amp; 'G': Composite video out to My Machine capture card.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'P' &amp; 'G': S.BUS control input from signal decoder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'5': +5V DC regulated power supplying external PCB.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Pin 'T' &amp; 'R': UART telemetry TX/RX for autonomous override.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RC Control &amp; Transcoder: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RadioMaster TX16S multi-protocol transmitter.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PPM -&gt; S-BUS PCB decoder converts trainer/DSC to S.BUS.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Pilot FPV VR Goggles: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Box-style dual-antenna VR goggles receiving augmented HUD.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74720" cy="502920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Role of 'My Machine' (AI Edge Server)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Real-Time Video Ingestion &amp; Vision Core: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Captures raw video from Dock Pin 'V' @ 60 FPS via USB UVC.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YOLOv8 detector with center-of-mass (CoM) flap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Multi-Horizon Trajectory Forecaster: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future positions at 1.0s, 2.0s, 3.0s, and 4.0s.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Generates 3D cylindrical moving zone keep-out tunnel.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Kinematic Evasion Solver &amp; MAVLink Injection: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Computes orthogonal break escape vector (θ ± 90°).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Signals 85-95% burst climb to evade bird diving corridor.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Injects MAVLink #147 COLLISION_AVOIDANCE via Dock Pin 'R'.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Augmented Reality VR HUD Engine: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Renders 7 modular visual layers with real-time isolation.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Streams Cockpit HUD &amp; Stereoscopic SBS 3D to FPV Goggles.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</a:defRPr>
            </a:pPr>
            <a:r>
              <a:t>PROJECT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Project Deliverables &amp; Verification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676"/>
                </a:solidFill>
              </a:defRPr>
            </a:pPr>
            <a:r>
              <a:t>Verified Software Deliverables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1. Complete Web UI Studio (FastAPI + HTML5 Canvas):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Learning Area: http://localhost:8000/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Testing Studio: http://localhost:8000/test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2. PyTorch Deep Learning Models: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learned_bird_gru_0.5s.pt (764,000+ trained flight samples)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learned_bird_gru_frame.pt, 0.25s.pt, 1s.pt, 2s.pt checkpoints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3. Core Algorithmic Engines: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visualizer.py: 7 Modular Layers, 3D Cylinder Tunnels, Rib 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tracker_engine.py: YOLOv8 + ByteTrack + Inertial CoM Decoupling.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online_trainer.py: Real-time Gaussian NLL Backpropagation.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4. Anti-Bird Drone Evasion Module &amp; Simulated Dispatch Log: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Real-time predicted/actual logging, keep-out corridors, escape vectors.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5. Native Android Studio Kotlin Project: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CameraX 60 FPS mobile detection and spline path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846320"/>
          </a:xfrm>
          <a:prstGeom prst="roundRect">
            <a:avLst/>
          </a:prstGeom>
          <a:solidFill>
            <a:srgbClr val="121620"/>
          </a:solidFill>
          <a:ln w="17780">
            <a:solidFill>
              <a:srgbClr val="26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66344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Final Technical Conclusion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A Complete Paradigm Shift in Avian Tracking: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Successfully transitioned from fragile static 2D detection (like FBD-SV-2024) to a continuous, physics-informed, multi-horizon trajectory forecasting system.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Key Solved Problems: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Wing flap vibration completely eliminated via CoM stabilization.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1s to 4s future prediction horizons project smoothly inside big moving airspace tunnels.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7 modular visual layers with independent ring and tunnel toggles.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  • Live anti-bird attack drone evasion logging and simulated MAVLink telemetry.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Status: 100% Operational, Fully Tested, and Live on http://localhost:8000!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🦅 BIRDPATH AI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Real-Time Bird Detection, Tracking &amp; Flight Path Prediction</a:t>
            </a:r>
          </a:p>
          <a:p>
            <a:pPr>
              <a:spcBef>
                <a:spcPts val="1200"/>
              </a:spcBef>
              <a:defRPr sz="1800">
                <a:solidFill>
                  <a:srgbClr val="00E5FF"/>
                </a:solidFill>
              </a:defRPr>
            </a:pPr>
            <a:r>
              <a:t>A Complete Visual Guide to How the Deep Learning Architecture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👁️ Vision &amp;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Real-time Detector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Motion Association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Trajectory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🧠 Deep Forecasting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Bidirectional GRU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20 Future Steps (~1.0 sec)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Gaussian Uncertainty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⚡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Live GPU Backpropagation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Learns directly from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300,000+ flight samples</a:t>
            </a:r>
          </a:p>
        </p:txBody>
      </p:sp>
    </p:spTree>
    <p:extLst>
      <p:ext uri="{BB962C8B-B14F-4D97-AF65-F5344CB8AC3E}">
        <p14:creationId xmlns:p14="http://schemas.microsoft.com/office/powerpoint/2010/main" val="165271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Big Picture: How the System Works in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VIDEO IN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Streams YouTube (720p/1080p) or local MP4 files.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Decodes at 30 FPS.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Feeds frames into the AI vision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finds every bird in each frame.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bounding boxes around birds.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center (X, Y)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assigns permanent IDs (#1, #2...).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Tracks history of last 15 positions.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smooths noisy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4. PREDICTION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GRU model predicts next 20 future frames (~1 sec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GREEN path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confidence uncertainty 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5. LIVE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Waits 20 frames to see where bird ACTUALLY flew.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MAGENTA truth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Updates model weights live on GPU!</a:t>
            </a:r>
          </a:p>
        </p:txBody>
      </p:sp>
    </p:spTree>
    <p:extLst>
      <p:ext uri="{BB962C8B-B14F-4D97-AF65-F5344CB8AC3E}">
        <p14:creationId xmlns:p14="http://schemas.microsoft.com/office/powerpoint/2010/main" val="124470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Joined Display: Layer 1 + Layer 2 + Layer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LAYER 1: The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Raw incoming YouTube or local camera video feed.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Provides realistic visual context of the sky, landscape, or flock.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CAN BE SWITCHED OFF on-the-fly to show a high-contrast dark space grid for forensic trajectory analysis!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LAYER 2: The Bounding Boxes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detection boxes around each bird.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Displays Bird ID (e.g. #3, #15) and detection confidence percentage (e.g. 94%).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Color-coded uniquely per bird so flock members are never mixed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LAYER 3: The Flight Paths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GREEN LINE: 20-frame future predicted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MAGENTA LINE: Actual observed ground-truth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CYAN GLOW: Gaussian variance uncertainty cone.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Shows exactly where AI thought the bird would go vs reality.</a:t>
            </a:r>
          </a:p>
        </p:txBody>
      </p:sp>
    </p:spTree>
    <p:extLst>
      <p:ext uri="{BB962C8B-B14F-4D97-AF65-F5344CB8AC3E}">
        <p14:creationId xmlns:p14="http://schemas.microsoft.com/office/powerpoint/2010/main" val="767956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the 3 Flight Lines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🟩 GREEN LINE: The Forecast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forecast of the next 20 frames (~1.0 second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A GRU neural network looks at the bird's past 15 frames of speed and turn angle to calculate the future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the projected path of a hurricane or flight radar cone.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🟪 MAGENTA LINE: The Reality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ground-truth path where the bird ACTUALLY flew in real life.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The system waits 20 frames, looks back at the bird's recorded history, and traces its real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Goal: Make the Green Line overlap the Magenta Line as closely as possible!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🟦 CYAN BAND: Confidence Cone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uncertainty spread around its prediction.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Close to the bird (step 1-3), the circle is tight (high certainty). Further into the future (step 20), it expands slightly.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your confidence predicting where someone will walk in 1 second vs 10 seconds.</a:t>
            </a:r>
          </a:p>
        </p:txBody>
      </p:sp>
    </p:spTree>
    <p:extLst>
      <p:ext uri="{BB962C8B-B14F-4D97-AF65-F5344CB8AC3E}">
        <p14:creationId xmlns:p14="http://schemas.microsoft.com/office/powerpoint/2010/main" val="291163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Online Learning: How the AI Improves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Traditional ML vs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TRADITIONAL TRAINING (Offline):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Requires downloading thousands of images into folders.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Model weights are static and frozen during playback.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Cannot adapt to a new species or wind speed.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LEARNING (Your System):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Learns live from incoming video frames continuously!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GPU updates weights immediately after seeing reality.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Over 300,000 real flight samples learned so far on your PC!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The 5-Step Continuous Loop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OBSERVE: System tracks bird's past 15 frames (X, Y, velocity).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PREDICT: GRU model outputs future 20-frame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BUFFER: Holds prediction in memory while video continues playing.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COMPARE: Once 20 frames pass, compares prediction vs actual flight.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5. UPDATE: Backpropagates Gaussian NLL loss into PyTorch model on GPU!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Result: The longer you watch a video, the smarter the model gets!</a:t>
            </a:r>
          </a:p>
        </p:txBody>
      </p:sp>
    </p:spTree>
    <p:extLst>
      <p:ext uri="{BB962C8B-B14F-4D97-AF65-F5344CB8AC3E}">
        <p14:creationId xmlns:p14="http://schemas.microsoft.com/office/powerpoint/2010/main" val="3529570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Telemetry Dashboard: What the Numbers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Operational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 FPS (14.5 FPS):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Speed of the video monitor.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Processes 14.5 frames every second while simultaneously running YOLO + GRU + Backpropagation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ACTIVE BIRDS (5 to 15):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Number of birds tracked simultaneously.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PROCESSED FRAMES (66,000+):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video frames ingested from YouTube.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SAMPLES LEARNED (300,000+):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flight training steps learned by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Accuracy &amp; Loss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LOSS (-117.5) &amp; AVG LOSS (-118.8):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Measures combined position error and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Negative means extremely confident and accurate!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Average Displacement Error across all 20 future steps.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Final Displacement Error at the 20th destination step.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Instantaneous and session average match: model is fully stabilized!</a:t>
            </a:r>
          </a:p>
        </p:txBody>
      </p:sp>
    </p:spTree>
    <p:extLst>
      <p:ext uri="{BB962C8B-B14F-4D97-AF65-F5344CB8AC3E}">
        <p14:creationId xmlns:p14="http://schemas.microsoft.com/office/powerpoint/2010/main" val="2143309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ADE &amp; FDE Accuracy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ADE: Average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average error across ALL 20 points along the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(Step 1 + Step 2 + ... + Step 20) / 20.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0.0399 (~4%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 a 1920x1080 video: 1920 * 0.0399 = ~76 pixels.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Along the entire flight path, the prediction stays within a couple dozen pixels of the bird!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Benchmark: ADE &lt; 0.05 is considered State-of-the-Art in trajectory forecasting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FDE: Final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error specifically at the FINAL destination point (Step 20).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Predicting 20 frames ahead (~1.0 sec) is much harder because small errors compound over 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0.0765 (~7.6%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Even 1 full second into the future, the prediction lands almost directly on the bird's body!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Why both match your session average: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Shows the model isn't guessing randomly — its accuracy is solid, stable,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74036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Can the Loss Be Negative? (-118 to -154)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The Math Behind Negative Loss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 basic machine learning (like MSE), loss is always &gt;= 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However, your model outputs a GAUSSIAN PROBABILITY: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Output = [Position (x, y) + Variance (sigma^2)]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Loss = 0.5 * sum[ log(sigma^2) + (Target - Pred)^2 / sigma^2 ]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Probability Density can be &gt; 1: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When the model is very confident, the bell curve is tall and narrow.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logarithm of small variance is NEGATIVE! (e.g. log(0.001) = -6.9)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Across 40 predicted values (20 steps * 2 coords), negative terms sum up to -120 to -154!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What -154 Means for Your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Code Clamps Variance at min = -8.0: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Lowest possible theoretical score: 40 * (0.5 * -8.0) = -160.0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Hitting -154 means: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model operates at ~96% of its theoretical maximum confidence and accuracy!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to read it: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More negative (-100 -&gt; -150) = Better, higher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Rising towards positive (-120 -&gt; +10) = Bird made a sudden, unexpected turn or dive.</a:t>
            </a:r>
          </a:p>
        </p:txBody>
      </p:sp>
    </p:spTree>
    <p:extLst>
      <p:ext uri="{BB962C8B-B14F-4D97-AF65-F5344CB8AC3E}">
        <p14:creationId xmlns:p14="http://schemas.microsoft.com/office/powerpoint/2010/main" val="1400168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Health: What Windows Task Manager is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Why Windows Terminal Uses 1.9 GB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Windows Terminal Host (1.9 GB RAM):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This is your active Python server (server.py) running inside PowerShell.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Inside this process: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1. PyTorch Deep Learning Engine + CUDA GPU drivers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2. YOLOv8 Object Detection Neural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3. GRU Flight Trajectory Prediction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4. OpenCV HD Video Decoder Buffer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Is 1.9 GB normal? YES! Deep learning models in RAM typically take 1.5 - 2.5 GB.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CRITICAL: Never click 'End' or your learning server stops!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Other Applications in Task Manager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Brave Browser (1.9 GB):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Streaming real-time 30 FPS video with HTML5 canvas graphics and telemetry.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Antigravity Assistant (604 MB):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pair programming IDE and development workspace.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Safe to Close if PC feels slow: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LibreOffice (55 MB), Snipping Tool (58 MB), Phone Link (21 MB).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These are regular desktop tools unrelated to the AI.</a:t>
            </a:r>
          </a:p>
        </p:txBody>
      </p:sp>
    </p:spTree>
    <p:extLst>
      <p:ext uri="{BB962C8B-B14F-4D97-AF65-F5344CB8AC3E}">
        <p14:creationId xmlns:p14="http://schemas.microsoft.com/office/powerpoint/2010/main" val="852393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Dedicated Testing Lab: Custom Frame Gaps &amp;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Custom Frame Gap Selection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Located at: http://localhost:8000/static/test.html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Custom Frame Gap Controls: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1: Shows all 20 predicted future points (dense line)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2: Shows every 2nd frame (10 waypoints)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4 / Gap 5: Major keyframe milestones (1/6th second intervals)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10: Half-second checkpoints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Prediction Horizon Slider: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Adjust forecast depth from 5 steps up to 20 steps on-the-fly!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Kinematics &amp; Forensic Tools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Flight Kinematics Dashboard: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🧭 360° Heading Compass: Real-time direction (e.g. 45° NE).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⚡ Speedometer: Linear velocity in px/frame and px/second.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🔄 Turn Rate: Classified into Cruising, Curving, or Banking.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Waypoints Table + Export: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Exact coordinates, timestamps, and uncertainty radii.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One-click Export to JSON or CSV format.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Interactive Mouse Sandbox: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Draw any flight curve with your mouse to test extrapolation!</a:t>
            </a:r>
          </a:p>
        </p:txBody>
      </p:sp>
    </p:spTree>
    <p:extLst>
      <p:ext uri="{BB962C8B-B14F-4D97-AF65-F5344CB8AC3E}">
        <p14:creationId xmlns:p14="http://schemas.microsoft.com/office/powerpoint/2010/main" val="19225955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Summary: Complete Pipeline from PC to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Computer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Web UI Studio streams YouTube at 720p/1080p.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online training adapts to real flight aerodynamics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Visual 3-layer joined monitor.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Weight Export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Click 'Save Learned Model Checkpoint'.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Converts PyTorch (.pt) -&gt; ONNX -&gt; TFLite (INT8 quantized).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Model compressed to &lt; 5 MB for real-time edge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Android App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Native Kotlin Android Studio project.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CameraX 60 FPS live camera input.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analytic Kalman Filter + ByteTracker.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Spline flight path overlay on mobile screen!</a:t>
            </a:r>
          </a:p>
        </p:txBody>
      </p:sp>
    </p:spTree>
    <p:extLst>
      <p:ext uri="{BB962C8B-B14F-4D97-AF65-F5344CB8AC3E}">
        <p14:creationId xmlns:p14="http://schemas.microsoft.com/office/powerpoint/2010/main" val="1374650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7273</Words>
  <Application>Microsoft Office PowerPoint</Application>
  <PresentationFormat>Widescreen</PresentationFormat>
  <Paragraphs>728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Karthikeyan. M. P - [CB.PS.I5DAS23010]</cp:lastModifiedBy>
  <cp:revision>2</cp:revision>
  <dcterms:created xsi:type="dcterms:W3CDTF">2013-01-27T09:14:16Z</dcterms:created>
  <dcterms:modified xsi:type="dcterms:W3CDTF">2026-10-30T06:16:37Z</dcterms:modified>
  <cp:category/>
</cp:coreProperties>
</file>